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7DD3FC"/>
                </a:solidFill>
              </a:defRPr>
            </a:pPr>
            <a:r>
              <a:t>Lunar Ice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6E9EF"/>
                </a:solidFill>
              </a:defRPr>
            </a:pPr>
            <a:r>
              <a:t>South Pole Candidate Ice Site Screening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A92A6"/>
                </a:solidFill>
              </a:defRPr>
            </a:pPr>
            <a:r>
              <a:t>Full Stack Development Course - Mid Semester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7DD3FC"/>
                </a:solidFill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E6E9EF"/>
                </a:solidFill>
              </a:defRPr>
            </a:pPr>
            <a:r>
              <a:t>Problem: Water ice near the Moon's south pole is hard to confirm directly -</a:t>
            </a:r>
          </a:p>
          <a:p>
            <a:pPr>
              <a:spcAft>
                <a:spcPts val="600"/>
              </a:spcAft>
              <a:defRPr sz="1700">
                <a:solidFill>
                  <a:srgbClr val="E6E9EF"/>
                </a:solidFill>
              </a:defRPr>
            </a:pPr>
            <a:r>
              <a:t>permanently shadowed regions get no sunlight, so scientists rely on indirect</a:t>
            </a:r>
          </a:p>
          <a:p>
            <a:pPr>
              <a:spcAft>
                <a:spcPts val="600"/>
              </a:spcAft>
              <a:defRPr sz="1700">
                <a:solidFill>
                  <a:srgbClr val="E6E9EF"/>
                </a:solidFill>
              </a:defRPr>
            </a:pPr>
            <a:r>
              <a:t>signals (radar, temperature, terrain) that can each be misleading alone.</a:t>
            </a:r>
          </a:p>
          <a:p>
            <a:pPr>
              <a:spcAft>
                <a:spcPts val="600"/>
              </a:spcAft>
              <a:defRPr sz="1700">
                <a:solidFill>
                  <a:srgbClr val="E6E9EF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E6E9EF"/>
                </a:solidFill>
              </a:defRPr>
            </a:pPr>
            <a:r>
              <a:t>Objective: A dashboard that screens candidate sites by combining those</a:t>
            </a:r>
          </a:p>
          <a:p>
            <a:pPr>
              <a:spcAft>
                <a:spcPts val="600"/>
              </a:spcAft>
              <a:defRPr sz="1700">
                <a:solidFill>
                  <a:srgbClr val="E6E9EF"/>
                </a:solidFill>
              </a:defRPr>
            </a:pPr>
            <a:r>
              <a:t>signals into one clear, explainable verdict per site.</a:t>
            </a:r>
          </a:p>
          <a:p>
            <a:pPr>
              <a:spcAft>
                <a:spcPts val="600"/>
              </a:spcAft>
              <a:defRPr sz="1700">
                <a:solidFill>
                  <a:srgbClr val="E6E9EF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E6E9EF"/>
                </a:solidFill>
              </a:defRPr>
            </a:pPr>
            <a:r>
              <a:t>Features: login, site dashboard, upload/run analysis, per-site evidence</a:t>
            </a:r>
          </a:p>
          <a:p>
            <a:pPr>
              <a:spcAft>
                <a:spcPts val="600"/>
              </a:spcAft>
              <a:defRPr sz="1700">
                <a:solidFill>
                  <a:srgbClr val="E6E9EF"/>
                </a:solidFill>
              </a:defRPr>
            </a:pPr>
            <a:r>
              <a:t>breakdown, hazard map, and a dedicated rover traverse simulation.</a:t>
            </a:r>
          </a:p>
          <a:p>
            <a:pPr>
              <a:spcAft>
                <a:spcPts val="600"/>
              </a:spcAft>
              <a:defRPr sz="1700">
                <a:solidFill>
                  <a:srgbClr val="E6E9EF"/>
                </a:solidFill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E6E9EF"/>
                </a:solidFill>
              </a:defRPr>
            </a:pPr>
            <a:r>
              <a:t>Tech stack: HTML5 / CSS3 / vanilla JavaScript frontend, Node.js 'http'</a:t>
            </a:r>
          </a:p>
          <a:p>
            <a:pPr>
              <a:spcAft>
                <a:spcPts val="600"/>
              </a:spcAft>
              <a:defRPr sz="1700">
                <a:solidFill>
                  <a:srgbClr val="E6E9EF"/>
                </a:solidFill>
              </a:defRPr>
            </a:pPr>
            <a:r>
              <a:t>static file server, client-side JSON dataset, HTML5 Canvas for map + rover.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DD3FC"/>
                </a:solidFill>
              </a:defRPr>
            </a:pPr>
            <a:r>
              <a:t>Use Case Diagram</a:t>
            </a:r>
          </a:p>
        </p:txBody>
      </p:sp>
      <p:pic>
        <p:nvPicPr>
          <p:cNvPr id="3" name="Picture 2" descr="usecas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76" y="1143000"/>
            <a:ext cx="8686800" cy="34775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7DD3FC"/>
                </a:solidFill>
              </a:defRPr>
            </a:pPr>
            <a:r>
              <a:t>Screens</a:t>
            </a:r>
          </a:p>
        </p:txBody>
      </p:sp>
      <p:pic>
        <p:nvPicPr>
          <p:cNvPr id="3" name="Picture 2" descr="01-lo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694176" cy="18188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943528"/>
            <a:ext cx="3694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A92A6"/>
                </a:solidFill>
              </a:defRPr>
            </a:pPr>
            <a:r>
              <a:t>Login</a:t>
            </a:r>
          </a:p>
        </p:txBody>
      </p:sp>
      <p:pic>
        <p:nvPicPr>
          <p:cNvPr id="5" name="Picture 4" descr="02-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1097280"/>
            <a:ext cx="3694176" cy="1818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42816" y="2943528"/>
            <a:ext cx="3694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A92A6"/>
                </a:solidFill>
              </a:defRPr>
            </a:pPr>
            <a:r>
              <a:t>Dashboard</a:t>
            </a:r>
          </a:p>
        </p:txBody>
      </p:sp>
      <p:pic>
        <p:nvPicPr>
          <p:cNvPr id="7" name="Picture 6" descr="03-site-detai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1097280"/>
            <a:ext cx="3694176" cy="18188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19872" y="2943528"/>
            <a:ext cx="3694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A92A6"/>
                </a:solidFill>
              </a:defRPr>
            </a:pPr>
            <a:r>
              <a:t>Site Evidence</a:t>
            </a:r>
          </a:p>
        </p:txBody>
      </p:sp>
      <p:pic>
        <p:nvPicPr>
          <p:cNvPr id="9" name="Picture 8" descr="04-uploa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291840"/>
            <a:ext cx="3694176" cy="1818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5138088"/>
            <a:ext cx="3694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A92A6"/>
                </a:solidFill>
              </a:defRPr>
            </a:pPr>
            <a:r>
              <a:t>Upload / Run Analysis</a:t>
            </a:r>
          </a:p>
        </p:txBody>
      </p:sp>
      <p:pic>
        <p:nvPicPr>
          <p:cNvPr id="11" name="Picture 10" descr="05-ma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2816" y="3291840"/>
            <a:ext cx="3694176" cy="1818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42816" y="5138088"/>
            <a:ext cx="3694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A92A6"/>
                </a:solidFill>
              </a:defRPr>
            </a:pPr>
            <a:r>
              <a:t>Hazard Map</a:t>
            </a:r>
          </a:p>
        </p:txBody>
      </p:sp>
      <p:pic>
        <p:nvPicPr>
          <p:cNvPr id="13" name="Picture 12" descr="06-travers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3291840"/>
            <a:ext cx="3694176" cy="18188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19872" y="5138088"/>
            <a:ext cx="3694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A92A6"/>
                </a:solidFill>
              </a:defRPr>
            </a:pPr>
            <a:r>
              <a:t>Rover Traverse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7DD3FC"/>
                </a:solidFill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E6E9EF"/>
                </a:solidFill>
              </a:defRPr>
            </a:pPr>
            <a:r>
              <a:t>- Replace the mock dataset with a real backend database</a:t>
            </a:r>
          </a:p>
          <a:p>
            <a:pPr>
              <a:spcAft>
                <a:spcPts val="600"/>
              </a:spcAft>
              <a:defRPr sz="1800">
                <a:solidFill>
                  <a:srgbClr val="E6E9EF"/>
                </a:solidFill>
              </a:defRPr>
            </a:pPr>
            <a:r>
              <a:t>- Add real user authentication and role-based access</a:t>
            </a:r>
          </a:p>
          <a:p>
            <a:pPr>
              <a:spcAft>
                <a:spcPts val="600"/>
              </a:spcAft>
              <a:defRPr sz="1800">
                <a:solidFill>
                  <a:srgbClr val="E6E9EF"/>
                </a:solidFill>
              </a:defRPr>
            </a:pPr>
            <a:r>
              <a:t>- Persist uploaded data files and pipeline results</a:t>
            </a:r>
          </a:p>
          <a:p>
            <a:pPr>
              <a:spcAft>
                <a:spcPts val="600"/>
              </a:spcAft>
              <a:defRPr sz="1800">
                <a:solidFill>
                  <a:srgbClr val="E6E9EF"/>
                </a:solidFill>
              </a:defRPr>
            </a:pPr>
            <a:r>
              <a:t>- Connect the evidence engine to actual scoring logic</a:t>
            </a:r>
          </a:p>
          <a:p>
            <a:pPr>
              <a:spcAft>
                <a:spcPts val="600"/>
              </a:spcAft>
              <a:defRPr sz="1800">
                <a:solidFill>
                  <a:srgbClr val="E6E9EF"/>
                </a:solidFill>
              </a:defRPr>
            </a:pPr>
            <a:r>
              <a:t>- Add 3D terrain visualization for the hazard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7DD3FC"/>
                </a:solidFill>
              </a:defRPr>
            </a:pPr>
            <a:r>
              <a:t>Thank You -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